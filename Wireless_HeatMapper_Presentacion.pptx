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al equipo, indicar que es el cierre de Sprint 0 + Sprint 1 y enfatizar la modalidad 100 % en línea como decisión de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Plantear el dolor de la operativa actual y aterrizar la visión del producto en una sola lámina.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RP es trazable a HU, casos de uso y sprints; mencionar que Sprint 1 implementó parcialmente RP7 y RP8.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Justificar por qué fue obligatorio un Sprint 0 (modalidad online nueva, OpenAPI requerido por el frontend, validación temprana del 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acuerdos de la retrospectiva y el siguiente sprint (PB-02 importar plano, PB-11 calibrar escala).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rápido los actores y subrayar que los 6 UC verdes son los que se demostraron en la slide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— esta arquitectura habilita los siguientes sprints (planos, mediciones, IA, portal cliente) sin cambios estructurales.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916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980B9"/>
                </a:solidFill>
                <a:latin typeface="Poppins"/>
              </a:rPr>
              <a:t>Wireless HeatMapper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D6D7E"/>
                </a:solidFill>
                <a:latin typeface="Inter"/>
              </a:rPr>
              <a:t>Sistema Inteligente de Análisis y Optimización de Cobertura WiFi mediante Mapas de Calor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3200400"/>
            <a:ext cx="4114800" cy="4572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Modalidad 100 % en línea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86200"/>
            <a:ext cx="11274552" cy="18288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Inter"/>
              </a:rPr>
              <a:t>Equipo · Grupo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511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Jhasmany Fernandez Ortega — Scrum Master /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Herland Borys Quiroga Flores — Product Owner /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0690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Inter"/>
              </a:rPr>
              <a:t>Contexto académico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325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Materia: Ingeniería de Software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572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Docente: Ing. Rolando Martínez Canedo, M.Sc.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8188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Cliente real: Bulldog Tech.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0657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Santa Cruz de la Sierra — Bolivia ·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Poppins"/>
              </a:rPr>
              <a:t>Del papel y las planillas a un único flujo en línea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Wireless HeatMapper · Grupo 24 · Sprint 0 +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10332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Inter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solidFill>
            <a:srgbClr val="A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Hoy en Bulldog Tech.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Apps WiFi sueltas + planos en papel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Datos sin georreferenciar al plano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Mapas de calor manuales y costosos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066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Recomendaciones de APs por experiencia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Sin supervisión central de proyectos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Entregables PDF estáticos por correo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74720"/>
            <a:ext cx="82296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4747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188720"/>
            <a:ext cx="512064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20700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Con Wireless HeatMapper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664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Captura WiFi en línea sobre el plano calibrado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Heatmap continuo generado en el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591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Análisis automático (zonas muertas, CCI/ACI)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066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IA recomienda posicionamiento óptimo de 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540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Panel admin web supervisa toda la organización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01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– Portal de cliente con enlace único interactivo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Poppins"/>
              </a:rPr>
              <a:t>Nueve requerimientos principales sobre un stack en línea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Wireless HeatMapper · Grupo 24 · Sprint 0 +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10332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Inter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005840"/>
          </a:xfrm>
          <a:prstGeom prst="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  <a:latin typeface="Inter"/>
              </a:rP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Desarrollar un sistema integrado y estrictamente en línea (móvil Android + backend REST con IA + plataforma web) que permita a Bulldog Tech. relevar, analizar y optimizar la cobertura WiFi mediante mapas de calor y recomendaciones automáticas de APs.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Captura WiFi en línea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331720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377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7157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Proyectos y planos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331720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2377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7157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Mapa de calor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39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5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Análisis de cobertura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291839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333755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367588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IA — APs óptimos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3291839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333755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67588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Reportes PDF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360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Admin web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251960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79" y="4297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46360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BD central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4251960"/>
            <a:ext cx="34747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4297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Poppins"/>
              </a:rPr>
              <a:t>RP9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46360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Portal cliente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19379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  <a:latin typeface="Inter"/>
              </a:rPr>
              <a:t>Stack: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0160" y="5184648"/>
            <a:ext cx="836676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184648"/>
            <a:ext cx="8366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Flutter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53996" y="5184648"/>
            <a:ext cx="836676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53996" y="5184648"/>
            <a:ext cx="8366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FastAPI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27832" y="5184648"/>
            <a:ext cx="1097280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27832" y="51846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React + 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62272" y="5184648"/>
            <a:ext cx="1357884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5184648"/>
            <a:ext cx="13578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PostgreSQL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57316" y="5184648"/>
            <a:ext cx="1444752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57316" y="518464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Docker + Nginx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39227" y="5184648"/>
            <a:ext cx="1444752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39227" y="518464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GitHub 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7150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Fuera de alcance: modo offline, sincronización diferida, SLAM, multi-tenant.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Poppins"/>
              </a:rPr>
              <a:t>Sprint 0 dejó la base lista para construir valor desde el día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Wireless HeatMapper · Grupo 24 · Sprint 0 +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10332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Inter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Inter"/>
              </a:rPr>
              <a:t>Marco Scrum (Enfoque v3.2)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993392"/>
            <a:ext cx="59436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R-1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7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  <a:latin typeface="Inter"/>
              </a:rPr>
              <a:t>R-1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993392"/>
            <a:ext cx="59436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00200" y="182880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R-2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24027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  <a:latin typeface="Inter"/>
              </a:rPr>
              <a:t>R-2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79" y="1993392"/>
            <a:ext cx="59436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R-3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224027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  <a:latin typeface="Inter"/>
              </a:rPr>
              <a:t>R-3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1993392"/>
            <a:ext cx="59436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20440" y="182880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R-4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24027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  <a:latin typeface="Inter"/>
              </a:rPr>
              <a:t>R-4</a:t>
            </a:r>
          </a:p>
        </p:txBody>
      </p:sp>
      <p:sp>
        <p:nvSpPr>
          <p:cNvPr id="24" name="Oval 23"/>
          <p:cNvSpPr/>
          <p:nvPr/>
        </p:nvSpPr>
        <p:spPr>
          <a:xfrm>
            <a:off x="4480560" y="182880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R-5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24027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  <a:latin typeface="Inter"/>
              </a:rPr>
              <a:t>R-5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688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Artefactos: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700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F3 Product Backlog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8712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F4 Historias de Usuario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0723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F5 Sprint Backlog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188720"/>
            <a:ext cx="6035040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1207008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Sprint 0 — Definición Inicial (R-1)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1691640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13 abr – 17 abr 2026 · 17 tareas · 36 hrs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1920240"/>
            <a:ext cx="2834640" cy="822960"/>
          </a:xfrm>
          <a:prstGeom prst="rect">
            <a:avLst/>
          </a:prstGeom>
          <a:solidFill>
            <a:srgbClr val="FAFAFA"/>
          </a:solidFill>
          <a:ln w="9525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20299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80B9"/>
                </a:solidFill>
                <a:latin typeface="Inter"/>
              </a:rPr>
              <a:t>Monorepo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35915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  <a:latin typeface="Inter"/>
              </a:rPr>
              <a:t>(backend / mobile / web)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1920240"/>
            <a:ext cx="2834640" cy="822960"/>
          </a:xfrm>
          <a:prstGeom prst="rect">
            <a:avLst/>
          </a:prstGeom>
          <a:solidFill>
            <a:srgbClr val="FAFAFA"/>
          </a:solidFill>
          <a:ln w="9525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20299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80B9"/>
                </a:solidFill>
                <a:latin typeface="Inter"/>
              </a:rPr>
              <a:t>Docker Compose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35915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  <a:latin typeface="Inter"/>
              </a:rPr>
              <a:t>db + backend + web + nginx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834640"/>
            <a:ext cx="2834640" cy="822960"/>
          </a:xfrm>
          <a:prstGeom prst="rect">
            <a:avLst/>
          </a:prstGeom>
          <a:solidFill>
            <a:srgbClr val="FAFAFA"/>
          </a:solidFill>
          <a:ln w="9525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29443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80B9"/>
                </a:solidFill>
                <a:latin typeface="Inter"/>
              </a:rPr>
              <a:t>Endpoint /api/health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327355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  <a:latin typeface="Inter"/>
              </a:rPr>
              <a:t>200 OK + Alembic init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2834640"/>
            <a:ext cx="2834640" cy="822960"/>
          </a:xfrm>
          <a:prstGeom prst="rect">
            <a:avLst/>
          </a:prstGeom>
          <a:solidFill>
            <a:srgbClr val="FAFAFA"/>
          </a:solidFill>
          <a:ln w="9525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29443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80B9"/>
                </a:solidFill>
                <a:latin typeface="Inter"/>
              </a:rPr>
              <a:t>Flutter (BLoC + Dio)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27355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  <a:latin typeface="Inter"/>
              </a:rPr>
              <a:t>y React + Vite init.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3749039"/>
            <a:ext cx="2834640" cy="822960"/>
          </a:xfrm>
          <a:prstGeom prst="rect">
            <a:avLst/>
          </a:prstGeom>
          <a:solidFill>
            <a:srgbClr val="FAFAFA"/>
          </a:solidFill>
          <a:ln w="9525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38587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80B9"/>
                </a:solidFill>
                <a:latin typeface="Inter"/>
              </a:rPr>
              <a:t>CI/CD GitHub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418795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  <a:latin typeface="Inter"/>
              </a:rPr>
              <a:t>+ pre-commit hooks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749039"/>
            <a:ext cx="2834640" cy="822960"/>
          </a:xfrm>
          <a:prstGeom prst="rect">
            <a:avLst/>
          </a:prstGeom>
          <a:solidFill>
            <a:srgbClr val="FAFAFA"/>
          </a:solidFill>
          <a:ln w="9525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8587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80B9"/>
                </a:solidFill>
                <a:latin typeface="Inter"/>
              </a:rPr>
              <a:t>Modelos UML aprobados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18795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  <a:latin typeface="Inter"/>
              </a:rPr>
              <a:t>(Contexto, Arq., Datos)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Poppins"/>
              </a:rPr>
              <a:t>Sprint 1: 6 historias · 29 PHU · 100 %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Wireless HeatMapper · Grupo 24 · Sprint 0 +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10332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Inter"/>
              </a:rPr>
              <a:t>20 abr – 26 abr 2026 · Fundación CRUD: backend + admin web + auth móvil + proyectos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212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52728"/>
            <a:ext cx="5029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Historias entregadas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00200"/>
          <a:ext cx="5029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840480"/>
                <a:gridCol w="50292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HU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Nombre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PHU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980B9"/>
                          </a:solidFill>
                          <a:latin typeface="Inter"/>
                        </a:rPr>
                        <a:t>PB-13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Gestionar usuarios (admin web)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980B9"/>
                          </a:solidFill>
                          <a:latin typeface="Inter"/>
                        </a:rPr>
                        <a:t>PB-19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Gestionar clientes (admin 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980B9"/>
                          </a:solidFill>
                          <a:latin typeface="Inter"/>
                        </a:rPr>
                        <a:t>PB-09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Autenticar usuario (móvil)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980B9"/>
                          </a:solidFill>
                          <a:latin typeface="Inter"/>
                        </a:rPr>
                        <a:t>PB-18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Ver proyectos de la organización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980B9"/>
                          </a:solidFill>
                          <a:latin typeface="Inter"/>
                        </a:rPr>
                        <a:t>PB-01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Gestionar proyecto de survey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980B9"/>
                          </a:solidFill>
                          <a:latin typeface="Inter"/>
                        </a:rPr>
                        <a:t>PB-10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Ver historial de proyectos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852160" y="1234440"/>
            <a:ext cx="31089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252728"/>
            <a:ext cx="2926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Demo 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6916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1. Admin crea cliente "Bulldog Tech." y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756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2. Técnico inicia sesión en la app (JWT + refresh)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4597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3. Técnico crea, edita y archiva proyectos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4378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Inter"/>
              </a:rPr>
              <a:t>4. Admin supervisa proyectos con filtros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234440"/>
            <a:ext cx="274320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252728"/>
            <a:ext cx="2651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Review (R-4) + Retro (R-5)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91640"/>
            <a:ext cx="2743200" cy="73152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91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29 / 29 PHU · 100 %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560320"/>
            <a:ext cx="27432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578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Velocidad sostenible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926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nter"/>
              </a:rPr>
              <a:t>para 2 devs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3429000"/>
            <a:ext cx="2743200" cy="731520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456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  <a:latin typeface="Inter"/>
              </a:rPr>
              <a:t>Mejora Sprint 2: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Inter"/>
              </a:rPr>
              <a:t>detalle de proyecto en admin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Poppins"/>
              </a:rPr>
              <a:t>Visión funcional completa: 5 actores, 19 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Wireless HeatMapper · Grupo 24 · Sprint 0 +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10332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Inter"/>
              </a:rPr>
              <a:t>Sprint 1 entrega 6 UC · 13 UC restantes distribuidos en Sprints 2–6</a:t>
            </a:r>
          </a:p>
        </p:txBody>
      </p:sp>
      <p:pic>
        <p:nvPicPr>
          <p:cNvPr id="7" name="Picture 6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309360"/>
            <a:ext cx="2286000" cy="292608"/>
          </a:xfrm>
          <a:prstGeom prst="round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nter"/>
              </a:rPr>
              <a:t>Sprint 1 entregado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6309360"/>
            <a:ext cx="2651760" cy="292608"/>
          </a:xfrm>
          <a:prstGeom prst="round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63093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nter"/>
              </a:rPr>
              <a:t>Sprints 2–6 pendientes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6309360"/>
            <a:ext cx="3200400" cy="29260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6309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980B9"/>
                </a:solidFill>
                <a:latin typeface="Inter"/>
              </a:rPr>
              <a:t>Líneas punteadas = include/extend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Poppins"/>
              </a:rPr>
              <a:t>Arquitectura 100 % en línea: 4 contenedores, una sola fuente de verdad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Wireless HeatMapper · Grupo 24 · Sprint 0 +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10332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Inter"/>
              </a:rPr>
              <a:t>Cliente delgado móvil + SPA web → Nginx (TLS) → FastAPI → PostgreSQL</a:t>
            </a:r>
          </a:p>
        </p:txBody>
      </p:sp>
      <p:pic>
        <p:nvPicPr>
          <p:cNvPr id="7" name="Picture 6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Inter"/>
              </a:rPr>
              <a:t>• Cliente delgado: el móvil sólo guarda el JWT (modalidad online estricta).    • Toda la lógica y los datos viven en backend + PostgreSQL.    • Despliegue reproducible y automatizado vía Docker + GitHub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